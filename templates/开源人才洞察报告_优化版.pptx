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56" r:id="rId8"/>
    <p:sldId id="257" r:id="rId23"/>
    <p:sldId id="258" r:id="rId24"/>
    <p:sldId id="259" r:id="rId25"/>
    <p:sldId id="260" r:id="rId26"/>
    <p:sldId id="261" r:id="rId27"/>
    <p:sldId id="262" r:id="rId28"/>
    <p:sldId id="263" r:id="rId29"/>
  </p:sldIdLst>
  <p:sldSz cx="12193200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2"/>
          </p14:sldIdLst>
        </p14:section>
        <p14:section name="章节页" id="{FD05EE94-C931-8C4B-83A2-004B32AA1207}">
          <p14:sldIdLst>
            <p14:sldId id="281"/>
            <p14:sldId id="285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7000B"/>
    <a:srgbClr val="575756"/>
    <a:srgbClr val="FFFFFF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88" d="100"/>
          <a:sy n="88" d="100"/>
        </p:scale>
        <p:origin x="46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1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=""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Relationship Id="rId3" Type="http://schemas.openxmlformats.org/officeDocument/2006/relationships/image" Target="../media/image6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 xml:space="preserve"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 xml:space="preserve"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 xml:space="preserve"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alent_hk_01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alent_hk_01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alent_sg_01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alent_sg_01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112000" cy="6858000"/>
          </a:xfrm>
          <a:prstGeom prst="rect">
            <a:avLst/>
          </a:prstGeom>
          <a:solidFill>
            <a:srgbClr val="6B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112000" cy="18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8000"/>
            <a:ext cx="5112000" cy="18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368000"/>
            <a:ext cx="44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Arial"/>
              </a:rPr>
              <a:t>开源人才洞察报告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872000"/>
            <a:ext cx="4464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开源人才洞察报告（优化版样板）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3240000"/>
            <a:ext cx="1800000" cy="21600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3348000"/>
            <a:ext cx="44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  <a:latin typeface="Arial"/>
              </a:rPr>
              <a:t>2026  /  03  /  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2000" y="0"/>
            <a:ext cx="28800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0800" y="0"/>
            <a:ext cx="70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0800" y="1260000"/>
            <a:ext cx="61524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7000B"/>
                </a:solidFill>
                <a:latin typeface="Arial"/>
              </a:rPr>
              <a:t>开源人才洞察报告（优化版样板）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0800" y="2340000"/>
            <a:ext cx="6152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开源人才洞察报告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0800" y="2808000"/>
            <a:ext cx="6152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Arial"/>
              </a:rPr>
              <a:t>2026  /  03  / 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40800" y="5598000"/>
            <a:ext cx="7052400" cy="1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0800" y="5850001"/>
            <a:ext cx="5972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Powered by GitHub REST API  ·  AI-Enhanced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0800" y="6174000"/>
            <a:ext cx="5972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7000B"/>
                </a:solidFill>
                <a:latin typeface="Arial"/>
              </a:rPr>
              <a:t>开源人才洞察报告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112000" cy="6858000"/>
          </a:xfrm>
          <a:prstGeom prst="rect">
            <a:avLst/>
          </a:prstGeom>
          <a:solidFill>
            <a:srgbClr val="6B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112000" cy="18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8000"/>
            <a:ext cx="5112000" cy="18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368000"/>
            <a:ext cx="446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CCC"/>
                </a:solidFill>
                <a:latin typeface="Arial"/>
              </a:rPr>
              <a:t>开源人才洞察报告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872000"/>
            <a:ext cx="4464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开源人才洞察报告（优化版样板）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3240000"/>
            <a:ext cx="1800000" cy="21600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3348000"/>
            <a:ext cx="44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  <a:latin typeface="Arial"/>
              </a:rPr>
              <a:t>2026  /  03  /  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2000" y="0"/>
            <a:ext cx="28800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0800" y="0"/>
            <a:ext cx="70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0800" y="1260000"/>
            <a:ext cx="61524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7000B"/>
                </a:solidFill>
                <a:latin typeface="Arial"/>
              </a:rPr>
              <a:t>开源人才洞察报告（优化版样板）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0800" y="2340000"/>
            <a:ext cx="6152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开源人才洞察报告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0800" y="2808000"/>
            <a:ext cx="6152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Arial"/>
              </a:rPr>
              <a:t>2026  /  03  / 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40800" y="5598000"/>
            <a:ext cx="7052400" cy="1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0800" y="5850001"/>
            <a:ext cx="5972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Powered by GitHub REST API  ·  AI-Enhanced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0800" y="6174000"/>
            <a:ext cx="5972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7000B"/>
                </a:solidFill>
                <a:latin typeface="Arial"/>
              </a:rPr>
              <a:t>开源人才洞察报告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5999" cy="9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07200"/>
            <a:ext cx="12193200" cy="28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144000"/>
            <a:ext cx="1147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人才总览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000" y="630000"/>
            <a:ext cx="1147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Arial"/>
              </a:rPr>
              <a:t>质量评估与地区密度分析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4000"/>
            <a:ext cx="121932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34000"/>
            <a:ext cx="12193200" cy="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13200" y="6588000"/>
            <a:ext cx="187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Arial"/>
              </a:rPr>
              <a:t>2 /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1044000"/>
            <a:ext cx="3872400" cy="72000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0000" y="1044000"/>
            <a:ext cx="3872400" cy="64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00" y="1134000"/>
            <a:ext cx="3728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Arial"/>
              </a:rPr>
              <a:t>覆盖地区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1324800"/>
            <a:ext cx="3332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7000B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8401" y="1512000"/>
            <a:ext cx="39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400" y="1044000"/>
            <a:ext cx="3872400" cy="72000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400" y="1044000"/>
            <a:ext cx="3872400" cy="64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8400" y="1134000"/>
            <a:ext cx="3728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Arial"/>
              </a:rPr>
              <a:t>收录人才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8400" y="1324800"/>
            <a:ext cx="3332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7000B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8801" y="1512000"/>
            <a:ext cx="39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40800" y="1044000"/>
            <a:ext cx="3872400" cy="72000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40800" y="1044000"/>
            <a:ext cx="3872400" cy="64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8800" y="1134000"/>
            <a:ext cx="3728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Arial"/>
              </a:rPr>
              <a:t>高匹配人才（A/B 级）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8800" y="1324800"/>
            <a:ext cx="3332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7000B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09201" y="1512000"/>
            <a:ext cx="39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0000" y="1872000"/>
            <a:ext cx="3780000" cy="459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000" y="1962000"/>
            <a:ext cx="356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Arial"/>
              </a:rPr>
              <a:t>地区人才密度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000" y="2178000"/>
            <a:ext cx="35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Arial"/>
              </a:rPr>
              <a:t>香港 1 人，新加坡 1 人。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00" y="2466000"/>
            <a:ext cx="3600000" cy="30600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8000" y="2466000"/>
            <a:ext cx="64800" cy="30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4000" y="2692800"/>
            <a:ext cx="2772001" cy="36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4000" y="2692800"/>
            <a:ext cx="2772001" cy="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4000" y="2502000"/>
            <a:ext cx="28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香港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8000" y="2502000"/>
            <a:ext cx="503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C7000B"/>
                </a:solidFill>
                <a:latin typeface="Arial"/>
              </a:rPr>
              <a:t>1 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00" y="2815200"/>
            <a:ext cx="3600000" cy="30600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" y="2815200"/>
            <a:ext cx="64800" cy="30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4000" y="3042000"/>
            <a:ext cx="2772001" cy="36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4000" y="3042000"/>
            <a:ext cx="2772001" cy="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4000" y="2851200"/>
            <a:ext cx="28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新加坡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48000" y="2851200"/>
            <a:ext cx="503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C7000B"/>
                </a:solidFill>
                <a:latin typeface="Arial"/>
              </a:rPr>
              <a:t>1 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04000" y="1962000"/>
            <a:ext cx="7909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Arial"/>
              </a:rPr>
              <a:t>匹配度分布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04000" y="2178000"/>
            <a:ext cx="71172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A 级（优先推荐）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65200" y="2178000"/>
            <a:ext cx="54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7000B"/>
                </a:solidFill>
                <a:latin typeface="Arial"/>
              </a:rPr>
              <a:t>1 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04000" y="2336400"/>
            <a:ext cx="7873200" cy="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04000" y="2336400"/>
            <a:ext cx="3000600" cy="7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04000" y="2437200"/>
            <a:ext cx="71172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B 级（重点关注）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65200" y="2437200"/>
            <a:ext cx="54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30009"/>
                </a:solidFill>
                <a:latin typeface="Arial"/>
              </a:rPr>
              <a:t>1 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04000" y="2595600"/>
            <a:ext cx="7873200" cy="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04000" y="2595600"/>
            <a:ext cx="3000600" cy="72000"/>
          </a:xfrm>
          <a:prstGeom prst="rect">
            <a:avLst/>
          </a:prstGeom>
          <a:solidFill>
            <a:srgbClr val="A30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04000" y="2768400"/>
            <a:ext cx="7909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04000" y="2858400"/>
            <a:ext cx="7909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Arial"/>
              </a:rPr>
              <a:t>人才质量评估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04000" y="3074400"/>
            <a:ext cx="64800" cy="126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29999" y="3074400"/>
            <a:ext cx="7765200" cy="335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本期覆盖 2 个地区，整体质量偏高，A 级 1 人，B 级 1 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5999" cy="9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07200"/>
            <a:ext cx="12193200" cy="28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144000"/>
            <a:ext cx="1147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人才总览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000" y="630000"/>
            <a:ext cx="1147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Arial"/>
              </a:rPr>
              <a:t>质量评估与地区密度分析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4000"/>
            <a:ext cx="121932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34000"/>
            <a:ext cx="12193200" cy="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13200" y="6588000"/>
            <a:ext cx="187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Arial"/>
              </a:rPr>
              <a:t>2 /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1044000"/>
            <a:ext cx="3872400" cy="72000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0000" y="1044000"/>
            <a:ext cx="3872400" cy="64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00" y="1134000"/>
            <a:ext cx="3728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Arial"/>
              </a:rPr>
              <a:t>覆盖地区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1324800"/>
            <a:ext cx="3332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7000B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8401" y="1512000"/>
            <a:ext cx="39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400" y="1044000"/>
            <a:ext cx="3872400" cy="72000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400" y="1044000"/>
            <a:ext cx="3872400" cy="64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8400" y="1134000"/>
            <a:ext cx="3728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Arial"/>
              </a:rPr>
              <a:t>收录人才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8400" y="1324800"/>
            <a:ext cx="3332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7000B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8801" y="1512000"/>
            <a:ext cx="39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40800" y="1044000"/>
            <a:ext cx="3872400" cy="72000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40800" y="1044000"/>
            <a:ext cx="3872400" cy="64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8800" y="1134000"/>
            <a:ext cx="3728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Arial"/>
              </a:rPr>
              <a:t>高匹配人才（A/B 级）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8800" y="1324800"/>
            <a:ext cx="3332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7000B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09201" y="1512000"/>
            <a:ext cx="39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0000" y="1872000"/>
            <a:ext cx="3780000" cy="459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000" y="1962000"/>
            <a:ext cx="356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Arial"/>
              </a:rPr>
              <a:t>地区人才密度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000" y="2178000"/>
            <a:ext cx="35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Arial"/>
              </a:rPr>
              <a:t>香港 1 人，新加坡 1 人。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00" y="2466000"/>
            <a:ext cx="3600000" cy="30600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8000" y="2466000"/>
            <a:ext cx="64800" cy="30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4000" y="2692800"/>
            <a:ext cx="2772001" cy="36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4000" y="2692800"/>
            <a:ext cx="2772001" cy="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4000" y="2502000"/>
            <a:ext cx="28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香港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8000" y="2502000"/>
            <a:ext cx="503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C7000B"/>
                </a:solidFill>
                <a:latin typeface="Arial"/>
              </a:rPr>
              <a:t>1 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00" y="2815200"/>
            <a:ext cx="3600000" cy="306000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" y="2815200"/>
            <a:ext cx="64800" cy="30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4000" y="3042000"/>
            <a:ext cx="2772001" cy="36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4000" y="3042000"/>
            <a:ext cx="2772001" cy="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4000" y="2851200"/>
            <a:ext cx="28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新加坡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48000" y="2851200"/>
            <a:ext cx="503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C7000B"/>
                </a:solidFill>
                <a:latin typeface="Arial"/>
              </a:rPr>
              <a:t>1 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04000" y="1962000"/>
            <a:ext cx="7909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Arial"/>
              </a:rPr>
              <a:t>匹配度分布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04000" y="2178000"/>
            <a:ext cx="71172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A 级（优先推荐）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65200" y="2178000"/>
            <a:ext cx="54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7000B"/>
                </a:solidFill>
                <a:latin typeface="Arial"/>
              </a:rPr>
              <a:t>1 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04000" y="2336400"/>
            <a:ext cx="7873200" cy="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04000" y="2336400"/>
            <a:ext cx="3000600" cy="7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04000" y="2437200"/>
            <a:ext cx="71172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Arial"/>
              </a:rPr>
              <a:t>B 级（重点关注）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65200" y="2437200"/>
            <a:ext cx="54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30009"/>
                </a:solidFill>
                <a:latin typeface="Arial"/>
              </a:rPr>
              <a:t>1 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04000" y="2595600"/>
            <a:ext cx="7873200" cy="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04000" y="2595600"/>
            <a:ext cx="3000600" cy="72000"/>
          </a:xfrm>
          <a:prstGeom prst="rect">
            <a:avLst/>
          </a:prstGeom>
          <a:solidFill>
            <a:srgbClr val="A30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04000" y="2768400"/>
            <a:ext cx="7909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04000" y="2858400"/>
            <a:ext cx="7909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Arial"/>
              </a:rPr>
              <a:t>人才质量评估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04000" y="3074400"/>
            <a:ext cx="64800" cy="126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29999" y="3074400"/>
            <a:ext cx="7765200" cy="335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本期覆盖 2 个地区，整体质量偏高，A 级 1 人，B 级 1 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5999" cy="9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07200"/>
            <a:ext cx="12193200" cy="28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144000"/>
            <a:ext cx="1147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华为匹配度分析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000" y="630000"/>
            <a:ext cx="1147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Arial"/>
              </a:rPr>
              <a:t>项目技术价值评估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4000"/>
            <a:ext cx="121932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34000"/>
            <a:ext cx="12193200" cy="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13200" y="6588000"/>
            <a:ext cx="187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Arial"/>
              </a:rPr>
              <a:t>3 /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1044000"/>
            <a:ext cx="64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E0E0E0"/>
                </a:solidFill>
                <a:latin typeface="Arial"/>
              </a:rPr>
              <a:t>PLACEHOLDER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1728000"/>
            <a:ext cx="5664600" cy="162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0000" y="1728000"/>
            <a:ext cx="90000" cy="162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1818000"/>
            <a:ext cx="541260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linux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2106000"/>
            <a:ext cx="540000" cy="16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2113200"/>
            <a:ext cx="486000" cy="15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内核开发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4000" y="2106000"/>
            <a:ext cx="540000" cy="16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000" y="2113200"/>
            <a:ext cx="486000" cy="15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驱动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2322000"/>
            <a:ext cx="54126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Arial"/>
              </a:rPr>
              <a:t>Linux 内核主仓库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2772000"/>
            <a:ext cx="54126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赋能欧拉OS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8600" y="1728000"/>
            <a:ext cx="5664600" cy="162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8600" y="1728000"/>
            <a:ext cx="90000" cy="162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8600" y="1818000"/>
            <a:ext cx="541260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kubernetes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48600" y="2106000"/>
            <a:ext cx="540000" cy="16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4600" y="2113200"/>
            <a:ext cx="486000" cy="15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云原生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2600" y="2106000"/>
            <a:ext cx="540000" cy="16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8600" y="2113200"/>
            <a:ext cx="486000" cy="15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容器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8600" y="2322000"/>
            <a:ext cx="54126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Arial"/>
              </a:rPr>
              <a:t>容器编排领域标准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8600" y="2772000"/>
            <a:ext cx="54126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赋能华为云CCE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5999" cy="9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07200"/>
            <a:ext cx="12193200" cy="28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144000"/>
            <a:ext cx="1147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华为匹配度分析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000" y="630000"/>
            <a:ext cx="1147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Arial"/>
              </a:rPr>
              <a:t>项目技术价值评估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4000"/>
            <a:ext cx="121932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34000"/>
            <a:ext cx="12193200" cy="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13200" y="6588000"/>
            <a:ext cx="187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Arial"/>
              </a:rPr>
              <a:t>3 /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0" y="1044000"/>
            <a:ext cx="64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E0E0E0"/>
                </a:solidFill>
                <a:latin typeface="Arial"/>
              </a:rPr>
              <a:t>PLACEHOLDER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1728000"/>
            <a:ext cx="5664600" cy="162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0000" y="1728000"/>
            <a:ext cx="90000" cy="162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1818000"/>
            <a:ext cx="541260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linux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2106000"/>
            <a:ext cx="540000" cy="16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2113200"/>
            <a:ext cx="486000" cy="15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内核开发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4000" y="2106000"/>
            <a:ext cx="540000" cy="16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000" y="2113200"/>
            <a:ext cx="486000" cy="15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驱动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2322000"/>
            <a:ext cx="54126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Arial"/>
              </a:rPr>
              <a:t>Linux 内核主仓库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2772000"/>
            <a:ext cx="54126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赋能欧拉OS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8600" y="1728000"/>
            <a:ext cx="5664600" cy="162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8600" y="1728000"/>
            <a:ext cx="90000" cy="162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8600" y="1818000"/>
            <a:ext cx="541260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kubernetes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48600" y="2106000"/>
            <a:ext cx="540000" cy="16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4600" y="2113200"/>
            <a:ext cx="486000" cy="15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云原生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2600" y="2106000"/>
            <a:ext cx="540000" cy="16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8600" y="2113200"/>
            <a:ext cx="486000" cy="15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容器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8600" y="2322000"/>
            <a:ext cx="54126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Arial"/>
              </a:rPr>
              <a:t>容器编排领域标准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8600" y="2772000"/>
            <a:ext cx="5412601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赋能华为云CCE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880000" cy="6858000"/>
          </a:xfrm>
          <a:prstGeom prst="rect">
            <a:avLst/>
          </a:prstGeom>
          <a:solidFill>
            <a:srgbClr val="6B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880000" cy="18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8000"/>
            <a:ext cx="2880000" cy="18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1980000"/>
            <a:ext cx="2340000" cy="16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960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CCCC"/>
                </a:solidFill>
                <a:latin typeface="Arial"/>
              </a:rPr>
              <a:t>位人才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0" y="720000"/>
            <a:ext cx="43200" cy="541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0000" y="2160000"/>
            <a:ext cx="87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333333"/>
                </a:solidFill>
                <a:latin typeface="Arial"/>
              </a:rPr>
              <a:t>香港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0" y="3348000"/>
            <a:ext cx="877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Arial"/>
              </a:rPr>
              <a:t>人才 · 专题分析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3200" y="6426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Arial"/>
              </a:rPr>
              <a:t>4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880000" cy="6858000"/>
          </a:xfrm>
          <a:prstGeom prst="rect">
            <a:avLst/>
          </a:prstGeom>
          <a:solidFill>
            <a:srgbClr val="6B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880000" cy="18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8000"/>
            <a:ext cx="2880000" cy="18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1980000"/>
            <a:ext cx="2340000" cy="16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960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CCCC"/>
                </a:solidFill>
                <a:latin typeface="Arial"/>
              </a:rPr>
              <a:t>位人才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0" y="720000"/>
            <a:ext cx="43200" cy="541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0000" y="2160000"/>
            <a:ext cx="87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333333"/>
                </a:solidFill>
                <a:latin typeface="Arial"/>
              </a:rPr>
              <a:t>香港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0" y="3348000"/>
            <a:ext cx="877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Arial"/>
              </a:rPr>
              <a:t>人才 · 专题分析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3200" y="6426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Arial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5999" cy="9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07200"/>
            <a:ext cx="12193200" cy="28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144000"/>
            <a:ext cx="1147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张明辉  ·  人才档案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000" y="630000"/>
            <a:ext cx="1147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Arial"/>
              </a:rPr>
              <a:t>@talent_hk_01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4000"/>
            <a:ext cx="121932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34000"/>
            <a:ext cx="12193200" cy="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13200" y="6588000"/>
            <a:ext cx="187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Arial"/>
              </a:rPr>
              <a:t>5 /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1044000"/>
            <a:ext cx="3420000" cy="544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86000" y="1188000"/>
            <a:ext cx="1007999" cy="1007999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6000" y="1339199"/>
            <a:ext cx="1007999" cy="705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2285999"/>
            <a:ext cx="32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Arial"/>
              </a:rPr>
              <a:t>张明辉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" y="2609999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7000B"/>
                </a:solidFill>
                <a:latin typeface="Arial"/>
              </a:rPr>
              <a:t>@talent_hk_01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000" y="2861999"/>
            <a:ext cx="30960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000" y="2933999"/>
            <a:ext cx="3096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华为匹配度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000" y="3095999"/>
            <a:ext cx="3096000" cy="115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000" y="3095999"/>
            <a:ext cx="2848320" cy="1152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000" y="3232799"/>
            <a:ext cx="136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92 / 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98000" y="3254399"/>
            <a:ext cx="540000" cy="172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800" y="3272399"/>
            <a:ext cx="504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 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000" y="3477599"/>
            <a:ext cx="30960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000" y="3538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📍  Hong Kong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000" y="3772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🏢  HKUST Research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000" y="4006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💻  1,280 commits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000" y="4240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👥  420 followers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000" y="4474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✉  zhang.mh@hkust.edu.hk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000" y="4708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🌐  https://zhanghk.dev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000" y="4942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𝕏  @zhanghk_dev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000" y="5176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in  linkedin.com/in/zhanghk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000" y="6246000"/>
            <a:ext cx="3204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 u="sng">
                <a:solidFill>
                  <a:srgbClr val="C7000B"/>
                </a:solidFill>
                <a:latin typeface="Arial"/>
                <a:hlinkClick r:id="rId2"/>
              </a:rPr>
              <a:t>https://github.com/talent_hk_01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4000" y="1152000"/>
            <a:ext cx="52092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技术方向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4000" y="1332000"/>
            <a:ext cx="5209201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Linux 内核 / 内存管理 / Rust 系统编程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4000" y="1674000"/>
            <a:ext cx="1418400" cy="20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8000" y="1695600"/>
            <a:ext cx="13464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Linux Kernel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34400" y="1674000"/>
            <a:ext cx="792000" cy="20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88400" y="1695600"/>
            <a:ext cx="7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Rust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8400" y="1674000"/>
            <a:ext cx="792000" cy="20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52400" y="1695600"/>
            <a:ext cx="7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内存管理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4000" y="1933200"/>
            <a:ext cx="5209201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4000" y="2016000"/>
            <a:ext cx="52092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贡献摘要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4000" y="2196000"/>
            <a:ext cx="5209201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Arial"/>
              </a:rPr>
              <a:t>在 linux 累计提交 1280 commits，专注内存子系统优化，patch 被主线合并率 78%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4000" y="2735999"/>
            <a:ext cx="52092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来源项目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4000" y="2915999"/>
            <a:ext cx="5209201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7000B"/>
                </a:solidFill>
                <a:latin typeface="Arial"/>
              </a:rPr>
              <a:t>• linux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4000" y="3103199"/>
            <a:ext cx="5209201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7000B"/>
                </a:solidFill>
                <a:latin typeface="Arial"/>
              </a:rPr>
              <a:t>• rust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61201" y="1152000"/>
            <a:ext cx="2951999" cy="5338800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61201" y="1152000"/>
            <a:ext cx="2951999" cy="10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69201" y="1314000"/>
            <a:ext cx="273599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华为匹配分析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69201" y="1530000"/>
            <a:ext cx="936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7000B"/>
                </a:solidFill>
                <a:latin typeface="Arial"/>
              </a:rPr>
              <a:t>92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53201" y="18000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Arial"/>
              </a:rPr>
              <a:t>/ 100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365200" y="1638000"/>
            <a:ext cx="540000" cy="234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94000" y="1656000"/>
            <a:ext cx="504000" cy="20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 级推荐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69201" y="2098800"/>
            <a:ext cx="2735999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69201" y="2170800"/>
            <a:ext cx="2735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匹配分析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69201" y="2350800"/>
            <a:ext cx="2735999" cy="40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Arial"/>
              </a:rPr>
              <a:t>深度参与 Linux 内核核心模块，技术栈与华为鸿蒙/欧拉 OS 团队高度契合，可直接上岗参与内核优化。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5999" cy="9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07200"/>
            <a:ext cx="12193200" cy="28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144000"/>
            <a:ext cx="1147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张明辉  ·  人才档案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000" y="630000"/>
            <a:ext cx="1147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Arial"/>
              </a:rPr>
              <a:t>@talent_hk_01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4000"/>
            <a:ext cx="121932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34000"/>
            <a:ext cx="12193200" cy="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13200" y="6588000"/>
            <a:ext cx="187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Arial"/>
              </a:rPr>
              <a:t>5 /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1044000"/>
            <a:ext cx="3420000" cy="544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86000" y="1188000"/>
            <a:ext cx="1007999" cy="1007999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6000" y="1339199"/>
            <a:ext cx="1007999" cy="705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2285999"/>
            <a:ext cx="32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Arial"/>
              </a:rPr>
              <a:t>张明辉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" y="2609999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7000B"/>
                </a:solidFill>
                <a:latin typeface="Arial"/>
              </a:rPr>
              <a:t>@talent_hk_01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000" y="2861999"/>
            <a:ext cx="30960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000" y="2933999"/>
            <a:ext cx="3096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华为匹配度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000" y="3095999"/>
            <a:ext cx="3096000" cy="115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000" y="3095999"/>
            <a:ext cx="2848320" cy="1152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000" y="3232799"/>
            <a:ext cx="136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92 / 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98000" y="3254399"/>
            <a:ext cx="540000" cy="172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800" y="3272399"/>
            <a:ext cx="504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 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000" y="3477599"/>
            <a:ext cx="30960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000" y="3538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📍  Hong Kong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000" y="3772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🏢  HKUST Research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000" y="4006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💻  1,280 commits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000" y="4240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👥  420 followers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000" y="4474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✉  zhang.mh@hkust.edu.hk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000" y="4708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🌐  https://zhanghk.dev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000" y="4942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𝕏  @zhanghk_dev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000" y="5176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in  linkedin.com/in/zhanghk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000" y="6246000"/>
            <a:ext cx="3204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 u="sng">
                <a:solidFill>
                  <a:srgbClr val="C7000B"/>
                </a:solidFill>
                <a:latin typeface="Arial"/>
                <a:hlinkClick r:id="rId2"/>
              </a:rPr>
              <a:t>https://github.com/talent_hk_01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4000" y="1152000"/>
            <a:ext cx="52092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技术方向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4000" y="1332000"/>
            <a:ext cx="5209201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Linux 内核 / 内存管理 / Rust 系统编程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4000" y="1674000"/>
            <a:ext cx="1418400" cy="20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8000" y="1695600"/>
            <a:ext cx="13464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Linux Kernel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34400" y="1674000"/>
            <a:ext cx="792000" cy="20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88400" y="1695600"/>
            <a:ext cx="7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Rust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8400" y="1674000"/>
            <a:ext cx="792000" cy="20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52400" y="1695600"/>
            <a:ext cx="7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内存管理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4000" y="1933200"/>
            <a:ext cx="5209201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4000" y="2016000"/>
            <a:ext cx="52092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贡献摘要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4000" y="2196000"/>
            <a:ext cx="5209201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Arial"/>
              </a:rPr>
              <a:t>在 linux 累计提交 1280 commits，专注内存子系统优化，patch 被主线合并率 78%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4000" y="2735999"/>
            <a:ext cx="52092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来源项目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4000" y="2915999"/>
            <a:ext cx="5209201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7000B"/>
                </a:solidFill>
                <a:latin typeface="Arial"/>
              </a:rPr>
              <a:t>• linux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4000" y="3103199"/>
            <a:ext cx="5209201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7000B"/>
                </a:solidFill>
                <a:latin typeface="Arial"/>
              </a:rPr>
              <a:t>• rust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61201" y="1152000"/>
            <a:ext cx="2951999" cy="5338800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61201" y="1152000"/>
            <a:ext cx="2951999" cy="10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69201" y="1314000"/>
            <a:ext cx="273599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华为匹配分析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69201" y="1530000"/>
            <a:ext cx="936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7000B"/>
                </a:solidFill>
                <a:latin typeface="Arial"/>
              </a:rPr>
              <a:t>92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53201" y="18000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Arial"/>
              </a:rPr>
              <a:t>/ 100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365200" y="1638000"/>
            <a:ext cx="540000" cy="234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94000" y="1656000"/>
            <a:ext cx="504000" cy="20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 级推荐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69201" y="2098800"/>
            <a:ext cx="2735999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69201" y="2170800"/>
            <a:ext cx="2735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匹配分析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69201" y="2350800"/>
            <a:ext cx="2735999" cy="40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Arial"/>
              </a:rPr>
              <a:t>深度参与 Linux 内核核心模块，技术栈与华为鸿蒙/欧拉 OS 团队高度契合，可直接上岗参与内核优化。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880000" cy="6858000"/>
          </a:xfrm>
          <a:prstGeom prst="rect">
            <a:avLst/>
          </a:prstGeom>
          <a:solidFill>
            <a:srgbClr val="6B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880000" cy="18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8000"/>
            <a:ext cx="2880000" cy="18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1980000"/>
            <a:ext cx="2340000" cy="16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960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CCCC"/>
                </a:solidFill>
                <a:latin typeface="Arial"/>
              </a:rPr>
              <a:t>位人才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0" y="720000"/>
            <a:ext cx="43200" cy="541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0000" y="2160000"/>
            <a:ext cx="87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333333"/>
                </a:solidFill>
                <a:latin typeface="Arial"/>
              </a:rPr>
              <a:t>新加坡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0" y="3348000"/>
            <a:ext cx="877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Arial"/>
              </a:rPr>
              <a:t>人才 · 专题分析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3200" y="6426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Arial"/>
              </a:rPr>
              <a:t>6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880000" cy="6858000"/>
          </a:xfrm>
          <a:prstGeom prst="rect">
            <a:avLst/>
          </a:prstGeom>
          <a:solidFill>
            <a:srgbClr val="6B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880000" cy="18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8000"/>
            <a:ext cx="2880000" cy="180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1980000"/>
            <a:ext cx="2340000" cy="16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960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CCCC"/>
                </a:solidFill>
                <a:latin typeface="Arial"/>
              </a:rPr>
              <a:t>位人才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0" y="720000"/>
            <a:ext cx="43200" cy="541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0000" y="2160000"/>
            <a:ext cx="877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333333"/>
                </a:solidFill>
                <a:latin typeface="Arial"/>
              </a:rPr>
              <a:t>新加坡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0" y="3348000"/>
            <a:ext cx="877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Arial"/>
              </a:rPr>
              <a:t>人才 · 专题分析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3200" y="6426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Arial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5999" cy="9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07200"/>
            <a:ext cx="12193200" cy="28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144000"/>
            <a:ext cx="1147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Li Wei  ·  人才档案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000" y="630000"/>
            <a:ext cx="1147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Arial"/>
              </a:rPr>
              <a:t>@talent_sg_01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4000"/>
            <a:ext cx="121932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34000"/>
            <a:ext cx="12193200" cy="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13200" y="6588000"/>
            <a:ext cx="187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Arial"/>
              </a:rPr>
              <a:t>7 /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1044000"/>
            <a:ext cx="3420000" cy="544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86000" y="1188000"/>
            <a:ext cx="1007999" cy="1007999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6000" y="1339199"/>
            <a:ext cx="1007999" cy="705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2285999"/>
            <a:ext cx="32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Arial"/>
              </a:rPr>
              <a:t>Li Wei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" y="2609999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7000B"/>
                </a:solidFill>
                <a:latin typeface="Arial"/>
              </a:rPr>
              <a:t>@talent_sg_01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000" y="2861999"/>
            <a:ext cx="30960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000" y="2933999"/>
            <a:ext cx="3096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华为匹配度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000" y="3095999"/>
            <a:ext cx="3096000" cy="115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000" y="3095999"/>
            <a:ext cx="2414880" cy="1152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000" y="3232799"/>
            <a:ext cx="136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78 / 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98000" y="3254399"/>
            <a:ext cx="540000" cy="172800"/>
          </a:xfrm>
          <a:prstGeom prst="rect">
            <a:avLst/>
          </a:prstGeom>
          <a:solidFill>
            <a:srgbClr val="A30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800" y="3272399"/>
            <a:ext cx="504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B 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000" y="3477599"/>
            <a:ext cx="30960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000" y="3538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📍  Singapore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000" y="3772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🏢  NUS · Open Source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000" y="4006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💻  870 commits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000" y="4240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👥  310 followers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000" y="4474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✉  liwei@nus.edu.sg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000" y="4708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🌐  https://liwei.io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000" y="4942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𝕏  @liwei_cloud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000" y="6246000"/>
            <a:ext cx="3204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 u="sng">
                <a:solidFill>
                  <a:srgbClr val="C7000B"/>
                </a:solidFill>
                <a:latin typeface="Arial"/>
                <a:hlinkClick r:id="rId2"/>
              </a:rPr>
              <a:t>https://github.com/talent_sg_01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4000" y="1152000"/>
            <a:ext cx="52092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技术方向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4000" y="1332000"/>
            <a:ext cx="5209201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分布式系统 / 云原生 / Kubernetes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4000" y="1674000"/>
            <a:ext cx="1224000" cy="20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98000" y="1695600"/>
            <a:ext cx="1152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Kubernetes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40000" y="1674000"/>
            <a:ext cx="792000" cy="20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94000" y="1695600"/>
            <a:ext cx="7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04000" y="1674000"/>
            <a:ext cx="792000" cy="20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58000" y="1695600"/>
            <a:ext cx="7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etcd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4000" y="1933200"/>
            <a:ext cx="5209201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4000" y="2016000"/>
            <a:ext cx="52092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贡献摘要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4000" y="2196000"/>
            <a:ext cx="5209201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Arial"/>
              </a:rPr>
              <a:t>kubernetes 核心贡献者，专注调度器优化，在 etcd 累计提交 870 commits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4000" y="2735999"/>
            <a:ext cx="52092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来源项目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4000" y="2915999"/>
            <a:ext cx="5209201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7000B"/>
                </a:solidFill>
                <a:latin typeface="Arial"/>
              </a:rPr>
              <a:t>• kubernetes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61201" y="1152000"/>
            <a:ext cx="2951999" cy="5338800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61201" y="1152000"/>
            <a:ext cx="2951999" cy="10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69201" y="1314000"/>
            <a:ext cx="273599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华为匹配分析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9201" y="1530000"/>
            <a:ext cx="936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7000B"/>
                </a:solidFill>
                <a:latin typeface="Arial"/>
              </a:rPr>
              <a:t>78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3201" y="18000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Arial"/>
              </a:rPr>
              <a:t>/ 100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365200" y="1638000"/>
            <a:ext cx="540000" cy="234000"/>
          </a:xfrm>
          <a:prstGeom prst="rect">
            <a:avLst/>
          </a:prstGeom>
          <a:solidFill>
            <a:srgbClr val="A30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394000" y="1656000"/>
            <a:ext cx="504000" cy="20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B 级推荐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69201" y="2098800"/>
            <a:ext cx="2735999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201" y="2170800"/>
            <a:ext cx="2735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匹配分析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9201" y="2350800"/>
            <a:ext cx="2735999" cy="40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Arial"/>
              </a:rPr>
              <a:t>云原生方向契合华为云战略，调度器经验可直接赋能 CCE 团队，但操作系统底层经验较弱。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5999" cy="9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07200"/>
            <a:ext cx="12193200" cy="28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144000"/>
            <a:ext cx="1147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Li Wei  ·  人才档案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000" y="630000"/>
            <a:ext cx="114732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Arial"/>
              </a:rPr>
              <a:t>@talent_sg_01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4000"/>
            <a:ext cx="121932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34000"/>
            <a:ext cx="12193200" cy="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13200" y="6588000"/>
            <a:ext cx="187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Arial"/>
              </a:rPr>
              <a:t>7 /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1044000"/>
            <a:ext cx="3420000" cy="544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86000" y="1188000"/>
            <a:ext cx="1007999" cy="1007999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6000" y="1339199"/>
            <a:ext cx="1007999" cy="705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2285999"/>
            <a:ext cx="32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  <a:latin typeface="Arial"/>
              </a:rPr>
              <a:t>Li Wei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" y="2609999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7000B"/>
                </a:solidFill>
                <a:latin typeface="Arial"/>
              </a:rPr>
              <a:t>@talent_sg_01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000" y="2861999"/>
            <a:ext cx="30960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000" y="2933999"/>
            <a:ext cx="3096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华为匹配度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000" y="3095999"/>
            <a:ext cx="3096000" cy="115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000" y="3095999"/>
            <a:ext cx="2414880" cy="1152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000" y="3232799"/>
            <a:ext cx="136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78 / 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98000" y="3254399"/>
            <a:ext cx="540000" cy="172800"/>
          </a:xfrm>
          <a:prstGeom prst="rect">
            <a:avLst/>
          </a:prstGeom>
          <a:solidFill>
            <a:srgbClr val="A30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800" y="3272399"/>
            <a:ext cx="504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B 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000" y="3477599"/>
            <a:ext cx="30960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000" y="3538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📍  Singapore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000" y="3772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🏢  NUS · Open Source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000" y="4006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💻  870 commits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000" y="4240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👥  310 followers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000" y="4474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✉  liwei@nus.edu.sg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000" y="4708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🌐  https://liwei.io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000" y="4942799"/>
            <a:ext cx="309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𝕏  @liwei_cloud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000" y="6246000"/>
            <a:ext cx="3204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 u="sng">
                <a:solidFill>
                  <a:srgbClr val="C7000B"/>
                </a:solidFill>
                <a:latin typeface="Arial"/>
                <a:hlinkClick r:id="rId2"/>
              </a:rPr>
              <a:t>https://github.com/talent_sg_01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4000" y="1152000"/>
            <a:ext cx="52092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技术方向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4000" y="1332000"/>
            <a:ext cx="5209201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分布式系统 / 云原生 / Kubernetes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4000" y="1674000"/>
            <a:ext cx="1224000" cy="20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98000" y="1695600"/>
            <a:ext cx="1152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Kubernetes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40000" y="1674000"/>
            <a:ext cx="792000" cy="20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94000" y="1695600"/>
            <a:ext cx="7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04000" y="1674000"/>
            <a:ext cx="792000" cy="20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58000" y="1695600"/>
            <a:ext cx="7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etcd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4000" y="1933200"/>
            <a:ext cx="5209201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4000" y="2016000"/>
            <a:ext cx="52092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贡献摘要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4000" y="2196000"/>
            <a:ext cx="5209201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Arial"/>
              </a:rPr>
              <a:t>kubernetes 核心贡献者，专注调度器优化，在 etcd 累计提交 870 commits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4000" y="2735999"/>
            <a:ext cx="52092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来源项目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4000" y="2915999"/>
            <a:ext cx="5209201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7000B"/>
                </a:solidFill>
                <a:latin typeface="Arial"/>
              </a:rPr>
              <a:t>• kubernetes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61201" y="1152000"/>
            <a:ext cx="2951999" cy="5338800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61201" y="1152000"/>
            <a:ext cx="2951999" cy="10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69201" y="1314000"/>
            <a:ext cx="273599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华为匹配分析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9201" y="1530000"/>
            <a:ext cx="936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7000B"/>
                </a:solidFill>
                <a:latin typeface="Arial"/>
              </a:rPr>
              <a:t>78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3201" y="18000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Arial"/>
              </a:rPr>
              <a:t>/ 100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365200" y="1638000"/>
            <a:ext cx="540000" cy="234000"/>
          </a:xfrm>
          <a:prstGeom prst="rect">
            <a:avLst/>
          </a:prstGeom>
          <a:solidFill>
            <a:srgbClr val="A30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394000" y="1656000"/>
            <a:ext cx="504000" cy="20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B 级推荐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69201" y="2098800"/>
            <a:ext cx="2735999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201" y="2170800"/>
            <a:ext cx="2735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Arial"/>
              </a:rPr>
              <a:t>匹配分析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9201" y="2350800"/>
            <a:ext cx="2735999" cy="40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Arial"/>
              </a:rPr>
              <a:t>云原生方向契合华为云战略，调度器经验可直接赋能 CCE 团队，但操作系统底层经验较弱。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5999" cy="9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07200"/>
            <a:ext cx="12193200" cy="28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144000"/>
            <a:ext cx="1147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项目贡献者索引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4000"/>
            <a:ext cx="121932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34000"/>
            <a:ext cx="12193200" cy="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13200" y="6588000"/>
            <a:ext cx="187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Arial"/>
              </a:rPr>
              <a:t>8 /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1080000"/>
            <a:ext cx="11833200" cy="54000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00" y="1134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linux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1386000"/>
            <a:ext cx="540000" cy="136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000" y="1393200"/>
            <a:ext cx="486000" cy="12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Arial"/>
              </a:rPr>
              <a:t>内核开发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1200" y="1386000"/>
            <a:ext cx="540000" cy="136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200" y="1393200"/>
            <a:ext cx="486000" cy="12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Arial"/>
              </a:rPr>
              <a:t>驱动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0000" y="1134000"/>
            <a:ext cx="21600" cy="43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000" y="1188000"/>
            <a:ext cx="742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@talent_hk_01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0000" y="1692000"/>
            <a:ext cx="11833200" cy="54000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00" y="1746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kubernetes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1998000"/>
            <a:ext cx="540000" cy="136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000" y="2005200"/>
            <a:ext cx="486000" cy="12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Arial"/>
              </a:rPr>
              <a:t>云原生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1200" y="1998000"/>
            <a:ext cx="540000" cy="136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200" y="2005200"/>
            <a:ext cx="486000" cy="12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Arial"/>
              </a:rPr>
              <a:t>容器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0000" y="1746000"/>
            <a:ext cx="21600" cy="43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000" y="1800000"/>
            <a:ext cx="742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@talent_sg_01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5999" cy="936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07200"/>
            <a:ext cx="12193200" cy="28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000" y="144000"/>
            <a:ext cx="1147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项目贡献者索引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4000"/>
            <a:ext cx="121932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34000"/>
            <a:ext cx="12193200" cy="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13200" y="6588000"/>
            <a:ext cx="187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Arial"/>
              </a:rPr>
              <a:t>8 /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1080000"/>
            <a:ext cx="11833200" cy="54000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00" y="1134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linux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1386000"/>
            <a:ext cx="540000" cy="136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000" y="1393200"/>
            <a:ext cx="486000" cy="12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Arial"/>
              </a:rPr>
              <a:t>内核开发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1200" y="1386000"/>
            <a:ext cx="540000" cy="136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200" y="1393200"/>
            <a:ext cx="486000" cy="12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Arial"/>
              </a:rPr>
              <a:t>驱动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0000" y="1134000"/>
            <a:ext cx="21600" cy="43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000" y="1188000"/>
            <a:ext cx="742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@talent_hk_01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0000" y="1692000"/>
            <a:ext cx="11833200" cy="54000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00" y="1746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kubernetes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1998000"/>
            <a:ext cx="540000" cy="136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000" y="2005200"/>
            <a:ext cx="486000" cy="12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Arial"/>
              </a:rPr>
              <a:t>云原生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1200" y="1998000"/>
            <a:ext cx="540000" cy="136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200" y="2005200"/>
            <a:ext cx="486000" cy="12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Arial"/>
              </a:rPr>
              <a:t>容器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0000" y="1746000"/>
            <a:ext cx="21600" cy="43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000" y="1800000"/>
            <a:ext cx="742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Arial"/>
              </a:rPr>
              <a:t>@talent_sg_01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="" xmlns:a16="http://schemas.microsoft.com/office/drawing/2014/main"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b="1"/>
              <a:t>04  附录：项目索引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各开源项目与其贡献人才的对应关系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="" xmlns:a16="http://schemas.microsoft.com/office/drawing/2014/main"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b="1"/>
              <a:t>附录：项目索引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7B0514-4060-0E4B-809B-B1B2E3258A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sz="1800" b="1" dirty="0"/>
              <a:t>项目 — 贡献人才对应表</a:t>
            </a:r>
          </a:p>
          <a:p>
            <a:pPr>
              <a:lnSpc>
                <a:spcPts val="3000"/>
              </a:lnSpc>
            </a:pPr>
            <a:r>
              <a:rPr lang="zh-CN" altLang="en-US" sz="1600" b="1" dirty="0"/>
              <a:t>[项目 A]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贡献人才：[姓名1]、[姓名2]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项目简介：[填写项目说明]</a:t>
            </a:r>
          </a:p>
          <a:p>
            <a:pPr>
              <a:lnSpc>
                <a:spcPts val="3000"/>
              </a:lnSpc>
            </a:pPr>
            <a:r>
              <a:rPr lang="zh-CN" altLang="en-US" sz="1600" b="1" dirty="0"/>
              <a:t>[项目 B]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贡献人才：[姓名1]、[姓名3]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项目简介：[填写项目说明]</a:t>
            </a:r>
          </a:p>
          <a:p>
            <a:pPr>
              <a:lnSpc>
                <a:spcPts val="3000"/>
              </a:lnSpc>
            </a:pPr>
            <a:r>
              <a:rPr lang="zh-CN" altLang="en-US" sz="1600" b="1" dirty="0"/>
              <a:t>[项目 C]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贡献人才：[姓名2]、[姓名4]</a:t>
            </a:r>
          </a:p>
          <a:p>
            <a:pPr>
              <a:lnSpc>
                <a:spcPts val="2800"/>
              </a:lnSpc>
            </a:pPr>
            <a:r>
              <a:rPr lang="zh-CN" altLang="en-US" sz="1500" dirty="0"/>
              <a:t>项目简介：[填写项目说明]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88</TotalTime>
  <Words>55</Words>
  <Application>Microsoft Office PowerPoint</Application>
  <PresentationFormat>自定义</PresentationFormat>
  <Paragraphs>49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黑体</vt:lpstr>
      <vt:lpstr>Microsoft YaHei</vt:lpstr>
      <vt:lpstr>Arial</vt:lpstr>
      <vt:lpstr>Calibri</vt:lpstr>
      <vt:lpstr>Calibri Light</vt:lpstr>
      <vt:lpstr>1_Title Slide</vt:lpstr>
      <vt:lpstr>Chart page</vt:lpstr>
      <vt:lpstr>4_Chart page</vt:lpstr>
      <vt:lpstr>End page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Hanke (A)</cp:lastModifiedBy>
  <cp:revision>11</cp:revision>
  <dcterms:created xsi:type="dcterms:W3CDTF">2018-12-05T07:23:25Z</dcterms:created>
  <dcterms:modified xsi:type="dcterms:W3CDTF">2021-01-28T09:59:27Z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